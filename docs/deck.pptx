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 open (30 s): a captain calls in sick at 5 a.m. Which flights break, who can legally take them, what does it cost, who breaks tomorrow because of the fix? Then the line: legality is exact arithmetic — an LLM that approximates a duty-hour sum is fluent, confident and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the app. Developer view OFF for the controller's experience; flip it ON when showing the audit trail. Start the server with ./start.sh so the console shows the PII scrub.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1153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4"/>
                </a:solidFill>
                <a:latin typeface="Courier New"/>
              </a:rPr>
              <a:t>DCORTEX AIR · CREW CONTROL · AGENTIC CREW OPS ADVISOR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11535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E6EDF3"/>
                </a:solidFill>
                <a:latin typeface="Arial"/>
              </a:rPr>
              <a:t>Crew Ops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46120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93A4B4"/>
                </a:solidFill>
                <a:latin typeface="Arial"/>
              </a:rPr>
              <a:t>A conversational assistant for the crew desk that is fast, right, and says so when it isn't 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DF3"/>
                </a:solidFill>
                <a:latin typeface="Arial"/>
              </a:rPr>
              <a:t>Team: Rajesh Tippana · Syed Maaz · Uma Shankar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66360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FC1D8"/>
                </a:solidFill>
                <a:latin typeface="Courier New"/>
              </a:rPr>
              <a:t>github.com/valinci-007/dCortex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Crew Ops Advisor · dCortex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4"/>
                </a:solidFill>
                <a:latin typeface="Courier New"/>
              </a:rPr>
              <a:t>01 · 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6EDF3"/>
                </a:solidFill>
                <a:latin typeface="Arial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7280" cy="28000"/>
          </a:xfrm>
          <a:prstGeom prst="rect">
            <a:avLst/>
          </a:prstGeom>
          <a:solidFill>
            <a:srgbClr val="4FC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4FC1D8"/>
                </a:solidFill>
                <a:latin typeface="Arial"/>
              </a:rPr>
              <a:t>•  </a:t>
            </a:r>
            <a:r>
              <a:rPr sz="1900" b="0">
                <a:solidFill>
                  <a:srgbClr val="E6EDF3"/>
                </a:solidFill>
                <a:latin typeface="Arial"/>
              </a:rPr>
              <a:t>A captain calls in sick at 5 a.m. Which flights break? Who can legally take them? What does it cost? Who else breaks tomorrow because of the fix?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4FC1D8"/>
                </a:solidFill>
                <a:latin typeface="Arial"/>
              </a:rPr>
              <a:t>•  </a:t>
            </a:r>
            <a:r>
              <a:rPr sz="1900" b="0">
                <a:solidFill>
                  <a:srgbClr val="E6EDF3"/>
                </a:solidFill>
                <a:latin typeface="Arial"/>
              </a:rPr>
              <a:t>Today that reasoning lives in one senior controller's head, across six screens and a rulebook — slow to learn, impossible to scale, worst under pressure.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4FC1D8"/>
                </a:solidFill>
                <a:latin typeface="Arial"/>
              </a:rPr>
              <a:t>•  </a:t>
            </a:r>
            <a:r>
              <a:rPr sz="1900" b="1">
                <a:solidFill>
                  <a:srgbClr val="E6EDF3"/>
                </a:solidFill>
                <a:latin typeface="Arial"/>
              </a:rPr>
              <a:t>Legality is exact arithmetic. </a:t>
            </a:r>
            <a:r>
              <a:rPr sz="1900" b="0">
                <a:solidFill>
                  <a:srgbClr val="E6EDF3"/>
                </a:solidFill>
                <a:latin typeface="Arial"/>
              </a:rPr>
              <a:t>An LLM that approximates a duty-hour sum is fluent, confident and wrong — operationally worse than no answer.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4FC1D8"/>
                </a:solidFill>
                <a:latin typeface="Arial"/>
              </a:rPr>
              <a:t>•  </a:t>
            </a:r>
            <a:r>
              <a:rPr sz="1900" b="1">
                <a:solidFill>
                  <a:srgbClr val="E6EDF3"/>
                </a:solidFill>
                <a:latin typeface="Arial"/>
              </a:rPr>
              <a:t>The brief's own bar: </a:t>
            </a:r>
            <a:r>
              <a:rPr sz="1900" b="0">
                <a:solidFill>
                  <a:srgbClr val="E6EDF3"/>
                </a:solidFill>
                <a:latin typeface="Arial"/>
              </a:rPr>
              <a:t>"a polished, reliable Tier 1 with a credible Tier 2 beats a broken Tier 3"; "correctness outweighs coverage".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Crew Ops Advisor · dCortex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4"/>
                </a:solidFill>
                <a:latin typeface="Courier New"/>
              </a:rPr>
              <a:t>02 · THREE CANDIDATES, ONE RUBRIC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6EDF3"/>
                </a:solidFill>
                <a:latin typeface="Arial"/>
              </a:rPr>
              <a:t>The central question is architectural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7280" cy="28000"/>
          </a:xfrm>
          <a:prstGeom prst="rect">
            <a:avLst/>
          </a:prstGeom>
          <a:solidFill>
            <a:srgbClr val="4FC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1153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93A4B4"/>
                </a:solidFill>
                <a:latin typeface="Arial"/>
              </a:rPr>
              <a:t>What should the language model do, what should deterministic code do, and how do you compose them?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77440"/>
          <a:ext cx="1090879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00400"/>
                <a:gridCol w="2743200"/>
                <a:gridCol w="2770632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93A4B4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0F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93A4B4"/>
                          </a:solidFill>
                          <a:latin typeface="Courier New"/>
                        </a:rPr>
                        <a:t>A · Tool agent over a deterministic core</a:t>
                      </a:r>
                    </a:p>
                  </a:txBody>
                  <a:tcPr marL="91440" marR="91440" marT="45720" marB="45720">
                    <a:solidFill>
                      <a:srgbClr val="0F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93A4B4"/>
                          </a:solidFill>
                          <a:latin typeface="Courier New"/>
                        </a:rPr>
                        <a:t>B · NL → SQL</a:t>
                      </a:r>
                    </a:p>
                  </a:txBody>
                  <a:tcPr marL="91440" marR="91440" marT="45720" marB="45720">
                    <a:solidFill>
                      <a:srgbClr val="0F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93A4B4"/>
                          </a:solidFill>
                          <a:latin typeface="Courier New"/>
                        </a:rPr>
                        <a:t>C · Intent router</a:t>
                      </a:r>
                    </a:p>
                  </a:txBody>
                  <a:tcPr marL="91440" marR="91440" marT="45720" marB="45720">
                    <a:solidFill>
                      <a:srgbClr val="0F151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E6EDF3"/>
                          </a:solidFill>
                          <a:latin typeface="Arial"/>
                        </a:rPr>
                        <a:t>AI Utilization (20%)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strong — the model plans and narrates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blurry — the model authors the logic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"AI decorating a lookup"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E6EDF3"/>
                          </a:solidFill>
                          <a:latin typeface="Arial"/>
                        </a:rPr>
                        <a:t>Correctness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tools own all arithmetic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silent wrong SQL is the named failure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strong but closed-world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E6EDF3"/>
                          </a:solidFill>
                          <a:latin typeface="Arial"/>
                        </a:rPr>
                        <a:t>Held-out questions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generalises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refuses the unanticipated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663440"/>
            <a:ext cx="10911535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E6EDF3"/>
                </a:solidFill>
                <a:latin typeface="Arial"/>
              </a:rPr>
              <a:t>Chosen: A, hardened with C's refusal discipline and offline router, and B's machine-readable reasoning trace. </a:t>
            </a:r>
            <a:r>
              <a:rPr sz="1700" b="0">
                <a:solidFill>
                  <a:srgbClr val="93A4B4"/>
                </a:solidFill>
                <a:latin typeface="Arial"/>
              </a:rPr>
              <a:t>Every candidate, and everything we skipped, is in docs/decisions.md — 21 ADRs.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Crew Ops Advisor · dCortex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4"/>
                </a:solidFill>
                <a:latin typeface="Courier New"/>
              </a:rPr>
              <a:t>03 · THE MODEL NEVER COMPUTES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6EDF3"/>
                </a:solidFill>
                <a:latin typeface="Arial"/>
              </a:rPr>
              <a:t>Where the boundary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7280" cy="28000"/>
          </a:xfrm>
          <a:prstGeom prst="rect">
            <a:avLst/>
          </a:prstGeom>
          <a:solidFill>
            <a:srgbClr val="4FC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E5A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5A93D"/>
                </a:solidFill>
                <a:latin typeface="Courier New"/>
              </a:rPr>
              <a:t>LANGUAGE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59152"/>
            <a:ext cx="3383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E6EDF3"/>
                </a:solidFill>
                <a:latin typeface="Arial"/>
              </a:rPr>
              <a:t>plans which lookups to make</a:t>
            </a:r>
          </a:p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E6EDF3"/>
                </a:solidFill>
                <a:latin typeface="Arial"/>
              </a:rPr>
              <a:t>narrates the answer with its reasoning</a:t>
            </a:r>
          </a:p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E6EDF3"/>
                </a:solidFill>
                <a:latin typeface="Arial"/>
              </a:rPr>
              <a:t>never does arithmetic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828800"/>
            <a:ext cx="2834640" cy="1554480"/>
          </a:xfrm>
          <a:prstGeom prst="roundRect">
            <a:avLst>
              <a:gd name="adj" fmla="val 6000"/>
            </a:avLst>
          </a:prstGeom>
          <a:solidFill>
            <a:srgbClr val="0F151C"/>
          </a:solidFill>
          <a:ln w="12700">
            <a:solidFill>
              <a:srgbClr val="4FC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6596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FC1D8"/>
                </a:solidFill>
                <a:latin typeface="Courier New"/>
              </a:rPr>
              <a:t>35 TYPED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304288"/>
            <a:ext cx="283464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E6EDF3"/>
                </a:solidFill>
                <a:latin typeface="Arial"/>
              </a:rPr>
              <a:t>JSON-schema validated</a:t>
            </a:r>
          </a:p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E6EDF3"/>
                </a:solidFill>
                <a:latin typeface="Arial"/>
              </a:rPr>
              <a:t>the only crossing</a:t>
            </a:r>
          </a:p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E6EDF3"/>
                </a:solidFill>
                <a:latin typeface="Arial"/>
              </a:rPr>
              <a:t>evidence objects 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92024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4FC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057400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FC1D8"/>
                </a:solidFill>
                <a:latin typeface="Courier New"/>
              </a:rPr>
              <a:t>DETERMINISTIC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359152"/>
            <a:ext cx="3383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E6EDF3"/>
                </a:solidFill>
                <a:latin typeface="Arial"/>
              </a:rPr>
              <a:t>rules engine: 7 rules → evidence</a:t>
            </a:r>
          </a:p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E6EDF3"/>
                </a:solidFill>
                <a:latin typeface="Arial"/>
              </a:rPr>
              <a:t>simulations · ranking · cost model</a:t>
            </a:r>
          </a:p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E6EDF3"/>
                </a:solidFill>
                <a:latin typeface="Arial"/>
              </a:rPr>
              <a:t>SQLite built from the dataset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23360" y="2423160"/>
            <a:ext cx="594360" cy="0"/>
          </a:xfrm>
          <a:prstGeom prst="line">
            <a:avLst/>
          </a:prstGeom>
          <a:ln w="19050">
            <a:solidFill>
              <a:srgbClr val="93A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52360" y="2423160"/>
            <a:ext cx="411480" cy="0"/>
          </a:xfrm>
          <a:prstGeom prst="line">
            <a:avLst/>
          </a:prstGeom>
          <a:ln w="19050">
            <a:solidFill>
              <a:srgbClr val="93A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452360" y="2880360"/>
            <a:ext cx="411480" cy="0"/>
          </a:xfrm>
          <a:prstGeom prst="line">
            <a:avLst/>
          </a:prstGeom>
          <a:ln w="19050">
            <a:solidFill>
              <a:srgbClr val="93A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023360" y="2880360"/>
            <a:ext cx="594360" cy="0"/>
          </a:xfrm>
          <a:prstGeom prst="line">
            <a:avLst/>
          </a:prstGeom>
          <a:ln w="19050">
            <a:solidFill>
              <a:srgbClr val="93A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23360" y="2103120"/>
            <a:ext cx="5943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93A4B4"/>
                </a:solidFill>
                <a:latin typeface="Courier New"/>
              </a:rPr>
              <a:t>tool call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971800"/>
            <a:ext cx="5943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93A4B4"/>
                </a:solidFill>
                <a:latin typeface="Courier New"/>
              </a:rPr>
              <a:t>←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49039"/>
            <a:ext cx="10911535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•  </a:t>
            </a:r>
            <a:r>
              <a:rPr sz="1500" b="1">
                <a:solidFill>
                  <a:srgbClr val="E6EDF3"/>
                </a:solidFill>
                <a:latin typeface="Arial"/>
              </a:rPr>
              <a:t>Claude Code's built-in tools are disabled; </a:t>
            </a:r>
            <a:r>
              <a:rPr sz="1500" b="0">
                <a:solidFill>
                  <a:srgbClr val="E6EDF3"/>
                </a:solidFill>
                <a:latin typeface="Arial"/>
              </a:rPr>
              <a:t>our registry is exposed as an in-process MCP server. The model can call exactly our tools and nothing else.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•  </a:t>
            </a:r>
            <a:r>
              <a:rPr sz="1500" b="1">
                <a:solidFill>
                  <a:srgbClr val="E6EDF3"/>
                </a:solidFill>
                <a:latin typeface="Arial"/>
              </a:rPr>
              <a:t>Every rule returns evidence: </a:t>
            </a:r>
            <a:r>
              <a:rPr sz="1500" b="0">
                <a:solidFill>
                  <a:srgbClr val="E6EDF3"/>
                </a:solidFill>
                <a:latin typeface="Arial"/>
              </a:rPr>
              <a:t>inputs, computed value, limit, margin, a human detail — the numbers a controller can challenge.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•  </a:t>
            </a:r>
            <a:r>
              <a:rPr sz="1500" b="1">
                <a:solidFill>
                  <a:srgbClr val="E6EDF3"/>
                </a:solidFill>
                <a:latin typeface="Arial"/>
              </a:rPr>
              <a:t>A grounding check </a:t>
            </a:r>
            <a:r>
              <a:rPr sz="1500" b="0">
                <a:solidFill>
                  <a:srgbClr val="E6EDF3"/>
                </a:solidFill>
                <a:latin typeface="Arial"/>
              </a:rPr>
              <a:t>verifies every id, date and figure in the answer against tool evidence: one rewrite, then a visible warning. Refusal is a first-class outcome.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•  </a:t>
            </a:r>
            <a:r>
              <a:rPr sz="1500" b="1">
                <a:solidFill>
                  <a:srgbClr val="E6EDF3"/>
                </a:solidFill>
                <a:latin typeface="Arial"/>
              </a:rPr>
              <a:t>If the model provider fails, </a:t>
            </a:r>
            <a:r>
              <a:rPr sz="1500" b="0">
                <a:solidFill>
                  <a:srgbClr val="E6EDF3"/>
                </a:solidFill>
                <a:latin typeface="Arial"/>
              </a:rPr>
              <a:t>an offline rule-based router answers over the same tools, labelled as such.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Crew Ops Advisor · dCortex hackathon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4"/>
                </a:solidFill>
                <a:latin typeface="Courier New"/>
              </a:rPr>
              <a:t>04 · THREE TIERS, ONE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6EDF3"/>
                </a:solidFill>
                <a:latin typeface="Arial"/>
              </a:rPr>
              <a:t>What it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7280" cy="28000"/>
          </a:xfrm>
          <a:prstGeom prst="rect">
            <a:avLst/>
          </a:prstGeom>
          <a:solidFill>
            <a:srgbClr val="4FC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84778" cy="411480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4FC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311901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FC1D8"/>
                </a:solidFill>
                <a:latin typeface="Courier New"/>
              </a:rPr>
              <a:t>TIER 1 · LOOKUPS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311901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3A4B4"/>
                </a:solidFill>
                <a:latin typeface="Courier New"/>
              </a:rPr>
              <a:t>17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3119018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6EDF3"/>
                </a:solidFill>
                <a:latin typeface="Arial"/>
              </a:rPr>
              <a:t>Reserves, duty clocks and headroom, flights, routes, pairings, certifications, risk signals, rules,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3458" y="1783080"/>
            <a:ext cx="3484778" cy="411480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E5A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6338" y="1920240"/>
            <a:ext cx="311901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A93D"/>
                </a:solidFill>
                <a:latin typeface="Courier New"/>
              </a:rPr>
              <a:t>TIER 2 · CONSEQUENCES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338" y="2240280"/>
            <a:ext cx="311901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3A4B4"/>
                </a:solidFill>
                <a:latin typeface="Courier New"/>
              </a:rPr>
              <a:t>10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6338" y="2651760"/>
            <a:ext cx="3119018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6EDF3"/>
                </a:solidFill>
                <a:latin typeface="Arial"/>
              </a:rPr>
              <a:t>Sick call → uncrewed and at-risk legs, passengers. Substitution → all seven rules with the numbers. Station closure → each leg's minimum delay and the crew's FDP after it. Delays, cancellations, crew near limits, reserve coverage.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783080"/>
            <a:ext cx="3484778" cy="411480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62C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9716" y="1920240"/>
            <a:ext cx="311901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2C48D"/>
                </a:solidFill>
                <a:latin typeface="Courier New"/>
              </a:rPr>
              <a:t>TIER 3 ·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9716" y="2240280"/>
            <a:ext cx="311901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3A4B4"/>
                </a:solidFill>
                <a:latin typeface="Courier New"/>
              </a:rPr>
              <a:t>8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9716" y="2651760"/>
            <a:ext cx="3119018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6EDF3"/>
                </a:solidFill>
                <a:latin typeface="Arial"/>
              </a:rPr>
              <a:t>Ranked covers with cost, delay, coverage, reasoning, the tightest rule headroom each leaves, and every excluded candidate with its reason. Joint plans, delay recovery, callout drafts, briefing, proactive watchlist; and positioning cover — when nobody local can take it on time, who elsewhere can be flown in before the departure. Read-only: what-ifs are questions, the controller decides.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Crew Ops Advisor · dCortex hackathon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4"/>
                </a:solidFill>
                <a:latin typeface="Courier New"/>
              </a:rPr>
              <a:t>05 · FIVE MINUTES, FOUR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6EDF3"/>
                </a:solidFill>
                <a:latin typeface="Arial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7280" cy="28000"/>
          </a:xfrm>
          <a:prstGeom prst="rect">
            <a:avLst/>
          </a:prstGeom>
          <a:solidFill>
            <a:srgbClr val="4FC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94944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1  </a:t>
            </a:r>
            <a:r>
              <a:rPr sz="1500" b="1">
                <a:solidFill>
                  <a:srgbClr val="E6EDF3"/>
                </a:solidFill>
                <a:latin typeface="Arial"/>
              </a:rPr>
              <a:t>"If Captain C-2087 covers P-2291 from 15 Sep, does any rule breach?"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93A4B4"/>
                </a:solidFill>
                <a:latin typeface="Arial"/>
              </a:rPr>
              <a:t>    RULE-DUTY-02 by 1h20m — the window, the total, the margin. None of it computed by the model.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2  </a:t>
            </a:r>
            <a:r>
              <a:rPr sz="1500" b="1">
                <a:solidFill>
                  <a:srgbClr val="E6EDF3"/>
                </a:solidFill>
                <a:latin typeface="Arial"/>
              </a:rPr>
              <a:t>"C-1042 called in sick from tomorrow — record it. What should I do?"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93A4B4"/>
                </a:solidFill>
                <a:latin typeface="Arial"/>
              </a:rPr>
              <a:t>    Ranked: C-3310 ₹18,500 → day-off callouts ₹24,000 → deadhead ₹41,200 + 3 h delay → cancel ₹15,00,000; who was excluded and why. Steps stream as they run.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3  </a:t>
            </a:r>
            <a:r>
              <a:rPr sz="1500" b="1">
                <a:solidFill>
                  <a:srgbClr val="E6EDF3"/>
                </a:solidFill>
                <a:latin typeface="Arial"/>
              </a:rPr>
              <a:t>"Captain C-2210 in DEL is also out — who covers P-2291's DEL day on 16 Sep?"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93A4B4"/>
                </a:solidFill>
                <a:latin typeface="Arial"/>
              </a:rPr>
              <a:t>    No legal on-time cover at DEL: the ranking escalates to positioning — DX588 the evening before with a hotel, ₹29,200, on time, cheaper than the delayed deadhead.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4  </a:t>
            </a:r>
            <a:r>
              <a:rPr sz="1500" b="1">
                <a:solidFill>
                  <a:srgbClr val="E6EDF3"/>
                </a:solidFill>
                <a:latin typeface="Arial"/>
              </a:rPr>
              <a:t>"Will fog delay BLR tomorrow?"</a:t>
            </a:r>
            <a:r>
              <a:rPr sz="1500" b="1">
                <a:solidFill>
                  <a:srgbClr val="4FC1D8"/>
                </a:solidFill>
                <a:latin typeface="Arial"/>
              </a:rPr>
              <a:t>  →  "I can't answer that reliably."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737360"/>
            <a:ext cx="3593592" cy="420624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874519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4"/>
                </a:solidFill>
                <a:latin typeface="Courier New"/>
              </a:rPr>
              <a:t>HELD IN 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240280"/>
            <a:ext cx="324612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FC1D8"/>
                </a:solidFill>
                <a:latin typeface="Arial"/>
              </a:rPr>
              <a:t>•  </a:t>
            </a:r>
            <a:r>
              <a:rPr sz="1300" b="0">
                <a:solidFill>
                  <a:srgbClr val="E6EDF3"/>
                </a:solidFill>
                <a:latin typeface="Arial"/>
              </a:rPr>
              <a:t>The watchlist on the home screen: a training lapse two days before a rostered duty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FC1D8"/>
                </a:solidFill>
                <a:latin typeface="Arial"/>
              </a:rPr>
              <a:t>•  </a:t>
            </a:r>
            <a:r>
              <a:rPr sz="1300" b="0">
                <a:solidFill>
                  <a:srgbClr val="E6EDF3"/>
                </a:solidFill>
                <a:latin typeface="Arial"/>
              </a:rPr>
              <a:t>The PII audit console: names never reach the model, before/after every tool result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FC1D8"/>
                </a:solidFill>
                <a:latin typeface="Arial"/>
              </a:rPr>
              <a:t>•  </a:t>
            </a:r>
            <a:r>
              <a:rPr sz="1300" b="0">
                <a:solidFill>
                  <a:srgbClr val="E6EDF3"/>
                </a:solidFill>
                <a:latin typeface="Arial"/>
              </a:rPr>
              <a:t>The offline router answering the same chain with the network pulled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FC1D8"/>
                </a:solidFill>
                <a:latin typeface="Arial"/>
              </a:rPr>
              <a:t>•  </a:t>
            </a:r>
            <a:r>
              <a:rPr sz="1300" b="0">
                <a:solidFill>
                  <a:srgbClr val="E6EDF3"/>
                </a:solidFill>
                <a:latin typeface="Arial"/>
              </a:rPr>
              <a:t>Voice input; persistent chats; the developer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Crew Ops Advisor · dCortex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4"/>
                </a:solidFill>
                <a:latin typeface="Courier New"/>
              </a:rPr>
              <a:t>06 · MEASURED, EVERY RUN REPORTED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6EDF3"/>
                </a:solidFill>
                <a:latin typeface="Arial"/>
              </a:rPr>
              <a:t>Results against the dataset's own answer keys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7280" cy="28000"/>
          </a:xfrm>
          <a:prstGeom prst="rect">
            <a:avLst/>
          </a:prstGeom>
          <a:solidFill>
            <a:srgbClr val="4FC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7589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560320"/>
                <a:gridCol w="1463040"/>
                <a:gridCol w="146304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93A4B4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0F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93A4B4"/>
                          </a:solidFill>
                          <a:latin typeface="Courier New"/>
                        </a:rPr>
                        <a:t>Model (Agent SDK)</a:t>
                      </a:r>
                    </a:p>
                  </a:txBody>
                  <a:tcPr marL="91440" marR="91440" marT="45720" marB="45720">
                    <a:solidFill>
                      <a:srgbClr val="0F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93A4B4"/>
                          </a:solidFill>
                          <a:latin typeface="Courier New"/>
                        </a:rPr>
                        <a:t>Offline router</a:t>
                      </a:r>
                    </a:p>
                  </a:txBody>
                  <a:tcPr marL="91440" marR="91440" marT="45720" marB="45720">
                    <a:solidFill>
                      <a:srgbClr val="0F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93A4B4"/>
                          </a:solidFill>
                          <a:latin typeface="Courier New"/>
                        </a:rPr>
                        <a:t>p50 latency</a:t>
                      </a:r>
                    </a:p>
                  </a:txBody>
                  <a:tcPr marL="91440" marR="91440" marT="45720" marB="45720">
                    <a:solidFill>
                      <a:srgbClr val="0F151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E6EDF3"/>
                          </a:solidFill>
                          <a:latin typeface="Arial"/>
                        </a:rPr>
                        <a:t>Tier 1 · 16 questions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16/16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16/16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≈ 7 s · &lt; 1 ms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E6EDF3"/>
                          </a:solidFill>
                          <a:latin typeface="Arial"/>
                        </a:rPr>
                        <a:t>Tier 2 · 14 questions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14/14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14/14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≈ 10 s · 1 ms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E6EDF3"/>
                          </a:solidFill>
                          <a:latin typeface="Arial"/>
                        </a:rPr>
                        <a:t>Tier 3 · 8 questions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7/8 automated · 8/8 on review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7/8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6EDF3"/>
                          </a:solidFill>
                          <a:latin typeface="Arial"/>
                        </a:rPr>
                        <a:t>≈ 14 s · 6 ms</a:t>
                      </a:r>
                    </a:p>
                  </a:txBody>
                  <a:tcPr marL="91440" marR="91440" marT="45720" marB="45720">
                    <a:solidFill>
                      <a:srgbClr val="161E2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840480"/>
            <a:ext cx="758952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4FC1D8"/>
                </a:solidFill>
                <a:latin typeface="Arial"/>
              </a:rPr>
              <a:t>•  </a:t>
            </a:r>
            <a:r>
              <a:rPr sz="1400" b="1">
                <a:solidFill>
                  <a:srgbClr val="E6EDF3"/>
                </a:solidFill>
                <a:latin typeface="Arial"/>
              </a:rPr>
              <a:t>The one automated miss is Q33, </a:t>
            </a:r>
            <a:r>
              <a:rPr sz="1400" b="0">
                <a:solidFill>
                  <a:srgbClr val="E6EDF3"/>
                </a:solidFill>
                <a:latin typeface="Arial"/>
              </a:rPr>
              <a:t>an answer key that contradicts its own 4-leg computation. Recorded, tested, explained — we keep the consistent figure.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4FC1D8"/>
                </a:solidFill>
                <a:latin typeface="Arial"/>
              </a:rPr>
              <a:t>•  </a:t>
            </a:r>
            <a:r>
              <a:rPr sz="1400" b="1">
                <a:solidFill>
                  <a:srgbClr val="E6EDF3"/>
                </a:solidFill>
                <a:latin typeface="Arial"/>
              </a:rPr>
              <a:t>Scenarios S1, S2, S4, S6 reproduced exactly </a:t>
            </a:r>
            <a:r>
              <a:rPr sz="1400" b="0">
                <a:solidFill>
                  <a:srgbClr val="E6EDF3"/>
                </a:solidFill>
                <a:latin typeface="Arial"/>
              </a:rPr>
              <a:t>(options, costs, exclusions, reasons); S5 differs by a documented exclusion.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4FC1D8"/>
                </a:solidFill>
                <a:latin typeface="Arial"/>
              </a:rPr>
              <a:t>•  </a:t>
            </a:r>
            <a:r>
              <a:rPr sz="1400" b="1">
                <a:solidFill>
                  <a:srgbClr val="E6EDF3"/>
                </a:solidFill>
                <a:latin typeface="Arial"/>
              </a:rPr>
              <a:t>Every correction turn in the 38-question run </a:t>
            </a:r>
            <a:r>
              <a:rPr sz="1400" b="0">
                <a:solidFill>
                  <a:srgbClr val="E6EDF3"/>
                </a:solidFill>
                <a:latin typeface="Arial"/>
              </a:rPr>
              <a:t>came from a figure the model derived or one our own checks misread — never from a wrong lookup. Each was fixed at its source.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783080"/>
            <a:ext cx="3044952" cy="438912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920240"/>
            <a:ext cx="27432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93A4B4"/>
                </a:solidFill>
                <a:latin typeface="Arial"/>
              </a:rPr>
              <a:t>LATEST FULL RUN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4FC1D8"/>
                </a:solidFill>
                <a:latin typeface="Courier New"/>
              </a:rPr>
              <a:t>tier123-agent-sdk-v6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E6EDF3"/>
                </a:solidFill>
                <a:latin typeface="Arial"/>
              </a:rPr>
              <a:t>p50 8.4 s  ·  p95 15.0 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E6EDF3"/>
                </a:solidFill>
                <a:latin typeface="Arial"/>
              </a:rPr>
              <a:t>whole run $2.65 with prompt caching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E6EDF3"/>
                </a:solidFill>
                <a:latin typeface="Arial"/>
              </a:rPr>
              <a:t>264 tests</a:t>
            </a:r>
            <a:r>
              <a:rPr sz="1300" b="0">
                <a:solidFill>
                  <a:srgbClr val="E6EDF3"/>
                </a:solidFill>
                <a:latin typeface="Arial"/>
              </a:rPr>
              <a:t> pin the engine to the answer keys and the roster to the organiser's validator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93A4B4"/>
                </a:solidFill>
                <a:latin typeface="Arial"/>
              </a:rPr>
              <a:t>Grading: recall of the key's atomic facts, then human review. No LLM judge on a determinism claim.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Crew Ops Advisor · dCortex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4"/>
                </a:solidFill>
                <a:latin typeface="Courier New"/>
              </a:rPr>
              <a:t>07 · WHAT A CONTROLLER CAN LEAN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6EDF3"/>
                </a:solidFill>
                <a:latin typeface="Arial"/>
              </a:rPr>
              <a:t>Trust is built in, not asserted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7280" cy="28000"/>
          </a:xfrm>
          <a:prstGeom prst="rect">
            <a:avLst/>
          </a:prstGeom>
          <a:solidFill>
            <a:srgbClr val="4FC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18607" cy="128016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92808"/>
            <a:ext cx="495284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FC1D8"/>
                </a:solidFill>
                <a:latin typeface="Arial"/>
              </a:rPr>
              <a:t>Refusal is a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4952847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6EDF3"/>
                </a:solidFill>
                <a:latin typeface="Arial"/>
              </a:rPr>
              <a:t>No tool covers weather, bookings, HR — it declines and names the nearest supported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783080"/>
            <a:ext cx="5318607" cy="128016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5887" y="1892808"/>
            <a:ext cx="495284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FC1D8"/>
                </a:solidFill>
                <a:latin typeface="Arial"/>
              </a:rPr>
              <a:t>Grounding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5887" y="2240280"/>
            <a:ext cx="4952847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6EDF3"/>
                </a:solidFill>
                <a:latin typeface="Arial"/>
              </a:rPr>
              <a:t>Every id, date and figure must appear in tool evidence. One rewrite, then a visible warning.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5318607" cy="128016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10128"/>
            <a:ext cx="495284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FC1D8"/>
                </a:solidFill>
                <a:latin typeface="Arial"/>
              </a:rPr>
              <a:t>Confidence on every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4952847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6EDF3"/>
                </a:solidFill>
                <a:latin typeface="Arial"/>
              </a:rPr>
              <a:t>verified · verified after correction · unverified figures · declined — and the tightest rule headroom on every ranked option.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3200400"/>
            <a:ext cx="5318607" cy="128016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7" y="3310128"/>
            <a:ext cx="495284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FC1D8"/>
                </a:solidFill>
                <a:latin typeface="Arial"/>
              </a:rPr>
              <a:t>PII minimisation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3657600"/>
            <a:ext cx="4952847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6EDF3"/>
                </a:solidFill>
                <a:latin typeface="Arial"/>
              </a:rPr>
              <a:t>CREW_OPS_PII_MODE=minimal: the model never sees a crew name; the browser joins names from a local directory. Medical dates are health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17720"/>
            <a:ext cx="5318607" cy="128016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27448"/>
            <a:ext cx="495284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FC1D8"/>
                </a:solidFill>
                <a:latin typeface="Arial"/>
              </a:rPr>
              <a:t>Audit console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4952847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6EDF3"/>
                </a:solidFill>
                <a:latin typeface="Arial"/>
              </a:rPr>
              <a:t>Every prompt, every question as typed and as sent, every tool result before and after the scrub — printed live.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4617720"/>
            <a:ext cx="5318607" cy="128016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5887" y="4727448"/>
            <a:ext cx="495284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FC1D8"/>
                </a:solidFill>
                <a:latin typeface="Arial"/>
              </a:rPr>
              <a:t>Sandboxed and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5074920"/>
            <a:ext cx="4952847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6EDF3"/>
                </a:solidFill>
                <a:latin typeface="Arial"/>
              </a:rPr>
              <a:t>The model can reach only our 35 tools; runs on a laptop; speech on-device; chats deletable.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Crew Ops Advisor · dCortex hackathon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4"/>
                </a:solidFill>
                <a:latin typeface="Courier New"/>
              </a:rPr>
              <a:t>08 · HONEST FAILURE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6EDF3"/>
                </a:solidFill>
                <a:latin typeface="Arial"/>
              </a:rPr>
              <a:t>Where it is weak — and we say 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7280" cy="28000"/>
          </a:xfrm>
          <a:prstGeom prst="rect">
            <a:avLst/>
          </a:prstGeom>
          <a:solidFill>
            <a:srgbClr val="4FC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•  </a:t>
            </a:r>
            <a:r>
              <a:rPr sz="1500" b="1">
                <a:solidFill>
                  <a:srgbClr val="E6EDF3"/>
                </a:solidFill>
                <a:latin typeface="Arial"/>
              </a:rPr>
              <a:t>Tier-3 latency is 12–30 s </a:t>
            </a:r>
            <a:r>
              <a:rPr sz="1500" b="0">
                <a:solidFill>
                  <a:srgbClr val="E6EDF3"/>
                </a:solidFill>
                <a:latin typeface="Arial"/>
              </a:rPr>
              <a:t>with three or four tool calls: tool time is milliseconds, the cost is model turns. Mitigated by streaming each step and the answer as it is written — legible, not solved.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•  </a:t>
            </a:r>
            <a:r>
              <a:rPr sz="1500" b="1">
                <a:solidFill>
                  <a:srgbClr val="E6EDF3"/>
                </a:solidFill>
                <a:latin typeface="Arial"/>
              </a:rPr>
              <a:t>Grounding is strict: </a:t>
            </a:r>
            <a:r>
              <a:rPr sz="1500" b="0">
                <a:solidFill>
                  <a:srgbClr val="E6EDF3"/>
                </a:solidFill>
                <a:latin typeface="Arial"/>
              </a:rPr>
              <a:t>it once flagged a correct derived sum and forced a rewrite. We accept false positives over a fabricated figure, and we fix each false positive at its source (lakh grouping, rotation notation, the controller's own dates).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•  </a:t>
            </a:r>
            <a:r>
              <a:rPr sz="1500" b="1">
                <a:solidFill>
                  <a:srgbClr val="E6EDF3"/>
                </a:solidFill>
                <a:latin typeface="Arial"/>
              </a:rPr>
              <a:t>Partial covers of multi-day pairings </a:t>
            </a:r>
            <a:r>
              <a:rPr sz="1500" b="0">
                <a:solidFill>
                  <a:srgbClr val="E6EDF3"/>
                </a:solidFill>
                <a:latin typeface="Arial"/>
              </a:rPr>
              <a:t>are legality-checked but not costed for repatriation; positioning knows our own network only.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•  </a:t>
            </a:r>
            <a:r>
              <a:rPr sz="1500" b="1">
                <a:solidFill>
                  <a:srgbClr val="E6EDF3"/>
                </a:solidFill>
                <a:latin typeface="Arial"/>
              </a:rPr>
              <a:t>Two answer keys we deliberately don't match: </a:t>
            </a:r>
            <a:r>
              <a:rPr sz="1500" b="0">
                <a:solidFill>
                  <a:srgbClr val="E6EDF3"/>
                </a:solidFill>
                <a:latin typeface="Arial"/>
              </a:rPr>
              <a:t>S5 lists a pairing's own crew as covers; Q33's 3-leg FDP contradicts its own 4-leg computation.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•  </a:t>
            </a:r>
            <a:r>
              <a:rPr sz="1500" b="1">
                <a:solidFill>
                  <a:srgbClr val="E6EDF3"/>
                </a:solidFill>
                <a:latin typeface="Arial"/>
              </a:rPr>
              <a:t>A concurrency bug found by adding a feature: </a:t>
            </a:r>
            <a:r>
              <a:rPr sz="1500" b="0">
                <a:solidFill>
                  <a:srgbClr val="E6EDF3"/>
                </a:solidFill>
                <a:latin typeface="Arial"/>
              </a:rPr>
              <a:t>one SQLite connection shared across request threads produced a NULL row once the watchlist loaded alongside other calls. Per-thread connections now; a 40-request test pins it.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•  </a:t>
            </a:r>
            <a:r>
              <a:rPr sz="1500" b="1">
                <a:solidFill>
                  <a:srgbClr val="E6EDF3"/>
                </a:solidFill>
                <a:latin typeface="Arial"/>
              </a:rPr>
              <a:t>The offline router is closed-world </a:t>
            </a:r>
            <a:r>
              <a:rPr sz="1500" b="0">
                <a:solidFill>
                  <a:srgbClr val="E6EDF3"/>
                </a:solidFill>
                <a:latin typeface="Arial"/>
              </a:rPr>
              <a:t>— insurance, not the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Crew Ops Advisor · dCortex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4"/>
                </a:solidFill>
                <a:latin typeface="Courier New"/>
              </a:rPr>
              <a:t>09 · DECISIONS, NOT DEFAULTS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6EDF3"/>
                </a:solidFill>
                <a:latin typeface="Arial"/>
              </a:rPr>
              <a:t>Engineering judgement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7280" cy="28000"/>
          </a:xfrm>
          <a:prstGeom prst="rect">
            <a:avLst/>
          </a:prstGeom>
          <a:solidFill>
            <a:srgbClr val="4FC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48640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•  </a:t>
            </a:r>
            <a:r>
              <a:rPr sz="1500" b="1">
                <a:solidFill>
                  <a:srgbClr val="E6EDF3"/>
                </a:solidFill>
                <a:latin typeface="Arial"/>
              </a:rPr>
              <a:t>Docs first: </a:t>
            </a:r>
            <a:r>
              <a:rPr sz="1500" b="0">
                <a:solidFill>
                  <a:srgbClr val="E6EDF3"/>
                </a:solidFill>
                <a:latin typeface="Arial"/>
              </a:rPr>
              <a:t>three architectures scored against the rubric; 21 ADRs including what we skipped and why.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•  </a:t>
            </a:r>
            <a:r>
              <a:rPr sz="1500" b="1">
                <a:solidFill>
                  <a:srgbClr val="E6EDF3"/>
                </a:solidFill>
                <a:latin typeface="Arial"/>
              </a:rPr>
              <a:t>Foundation up with exit gates: </a:t>
            </a:r>
            <a:r>
              <a:rPr sz="1500" b="0">
                <a:solidFill>
                  <a:srgbClr val="E6EDF3"/>
                </a:solidFill>
                <a:latin typeface="Arial"/>
              </a:rPr>
              <a:t>rules engine → tools + agent → simulations → UI + grounding → ranking → positioning. No tier before the previous gate was green.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•  </a:t>
            </a:r>
            <a:r>
              <a:rPr sz="1500" b="1">
                <a:solidFill>
                  <a:srgbClr val="E6EDF3"/>
                </a:solidFill>
                <a:latin typeface="Arial"/>
              </a:rPr>
              <a:t>Provider is a config switch: </a:t>
            </a:r>
            <a:r>
              <a:rPr sz="1500" b="0">
                <a:solidFill>
                  <a:srgbClr val="E6EDF3"/>
                </a:solidFill>
                <a:latin typeface="Arial"/>
              </a:rPr>
              <a:t>Agent SDK (default), client SDK, offline — one loop, automatic fallback.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•  </a:t>
            </a:r>
            <a:r>
              <a:rPr sz="1500" b="1">
                <a:solidFill>
                  <a:srgbClr val="E6EDF3"/>
                </a:solidFill>
                <a:latin typeface="Arial"/>
              </a:rPr>
              <a:t>Controller view by default, developer view behind a toggle: </a:t>
            </a:r>
            <a:r>
              <a:rPr sz="1500" b="0">
                <a:solidFill>
                  <a:srgbClr val="E6EDF3"/>
                </a:solidFill>
                <a:latin typeface="Arial"/>
              </a:rPr>
              <a:t>the desk sees the answer, its reasoning and one trust signal; judges can flip on traces, cost, timings.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5148072" cy="429768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74519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4"/>
                </a:solidFill>
                <a:latin typeface="Courier New"/>
              </a:rPr>
              <a:t>THE EVAL AS A DIAGNOSTIC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240280"/>
            <a:ext cx="48006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E6EDF3"/>
                </a:solidFill>
                <a:latin typeface="Arial"/>
              </a:rPr>
              <a:t>Reports keep the grounding verdict, the confidence label and a compact trace per question.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E6EDF3"/>
                </a:solidFill>
                <a:latin typeface="Arial"/>
              </a:rPr>
              <a:t>Mining them showed why every correction turn happened — and that the prompt was the smallest part of the fix: </a:t>
            </a:r>
            <a:r>
              <a:rPr sz="1400" b="1">
                <a:solidFill>
                  <a:srgbClr val="E6EDF3"/>
                </a:solidFill>
                <a:latin typeface="Arial"/>
              </a:rPr>
              <a:t>one sentence in the prompt, </a:t>
            </a:r>
            <a:r>
              <a:rPr sz="1400" b="0">
                <a:solidFill>
                  <a:srgbClr val="E6EDF3"/>
                </a:solidFill>
                <a:latin typeface="Arial"/>
              </a:rPr>
              <a:t>the rest in tool results, the grounding check and the grader.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4FC1D8"/>
                </a:solidFill>
                <a:latin typeface="Arial"/>
              </a:rPr>
              <a:t>Tier 3 went 3/8 → 7/8 without tuning the model to the grader or the grader to the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Crew Ops Advisor · dCortex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4"/>
                </a:solidFill>
                <a:latin typeface="Courier New"/>
              </a:rPr>
              <a:t>10 · WHAT WOULD CHANGE AT AIRLINE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6EDF3"/>
                </a:solidFill>
                <a:latin typeface="Arial"/>
              </a:rPr>
              <a:t>Production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7280" cy="28000"/>
          </a:xfrm>
          <a:prstGeom prst="rect">
            <a:avLst/>
          </a:prstGeom>
          <a:solidFill>
            <a:srgbClr val="4FC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•  </a:t>
            </a:r>
            <a:r>
              <a:rPr sz="1500" b="1">
                <a:solidFill>
                  <a:srgbClr val="E6EDF3"/>
                </a:solidFill>
                <a:latin typeface="Arial"/>
              </a:rPr>
              <a:t>Scale: </a:t>
            </a:r>
            <a:r>
              <a:rPr sz="1500" b="0">
                <a:solidFill>
                  <a:srgbClr val="E6EDF3"/>
                </a:solidFill>
                <a:latin typeface="Arial"/>
              </a:rPr>
              <a:t>the model sees tool results, not the dataset; SQLite becomes the crew-tracking and roster systems behind the same repository interfaces; the core is stateless.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•  </a:t>
            </a:r>
            <a:r>
              <a:rPr sz="1500" b="1">
                <a:solidFill>
                  <a:srgbClr val="E6EDF3"/>
                </a:solidFill>
                <a:latin typeface="Arial"/>
              </a:rPr>
              <a:t>Privacy: </a:t>
            </a:r>
            <a:r>
              <a:rPr sz="1500" b="0">
                <a:solidFill>
                  <a:srgbClr val="E6EDF3"/>
                </a:solidFill>
                <a:latin typeface="Arial"/>
              </a:rPr>
              <a:t>minimal PII mode by default, the directory behind the controller's authorisation, role-based access, retention policy, redaction at rest.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•  </a:t>
            </a:r>
            <a:r>
              <a:rPr sz="1500" b="1">
                <a:solidFill>
                  <a:srgbClr val="E6EDF3"/>
                </a:solidFill>
                <a:latin typeface="Arial"/>
              </a:rPr>
              <a:t>Latency: </a:t>
            </a:r>
            <a:r>
              <a:rPr sz="1500" b="0">
                <a:solidFill>
                  <a:srgbClr val="E6EDF3"/>
                </a:solidFill>
                <a:latin typeface="Arial"/>
              </a:rPr>
              <a:t>streaming shipped; next is capping Tier-3 evidence sent to the model and effort tuning per tier.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•  </a:t>
            </a:r>
            <a:r>
              <a:rPr sz="1500" b="1">
                <a:solidFill>
                  <a:srgbClr val="E6EDF3"/>
                </a:solidFill>
                <a:latin typeface="Arial"/>
              </a:rPr>
              <a:t>Read-only by principle: </a:t>
            </a:r>
            <a:r>
              <a:rPr sz="1500" b="0">
                <a:solidFill>
                  <a:srgbClr val="E6EDF3"/>
                </a:solidFill>
                <a:latin typeface="Arial"/>
              </a:rPr>
              <a:t>the advisor never changes crew data; what-ifs are questions and the controller acts in the desk's own systems (ADR-0021).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4FC1D8"/>
                </a:solidFill>
                <a:latin typeface="Arial"/>
              </a:rPr>
              <a:t>•  </a:t>
            </a:r>
            <a:r>
              <a:rPr sz="1500" b="1">
                <a:solidFill>
                  <a:srgbClr val="E6EDF3"/>
                </a:solidFill>
                <a:latin typeface="Arial"/>
              </a:rPr>
              <a:t>Business impact: </a:t>
            </a:r>
            <a:r>
              <a:rPr sz="1500" b="0">
                <a:solidFill>
                  <a:srgbClr val="E6EDF3"/>
                </a:solidFill>
                <a:latin typeface="Arial"/>
              </a:rPr>
              <a:t>minutes → seconds per disruption, every decision auditable, the cheapest legal option visible next to the ones excluded and why.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Crew Ops Advisor · dCortex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11535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6EDF3"/>
                </a:solidFill>
                <a:latin typeface="Arial"/>
              </a:rPr>
              <a:t>Fast. Right. Says so when it isn't sure.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1091153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4FC1D8"/>
                </a:solidFill>
                <a:latin typeface="Courier New"/>
              </a:rPr>
              <a:t>github.com/valinci-007/dCortex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911535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3A4B4"/>
                </a:solidFill>
                <a:latin typeface="Arial"/>
              </a:rPr>
              <a:t>docs/architecture.md · docs/decisions.md · docs/failure-cases.md · backend/evals/reports/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93A4B4"/>
                </a:solidFill>
                <a:latin typeface="Arial"/>
              </a:rPr>
              <a:t>./start.sh runs the desk on a laptop.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Crew Ops Advisor · dCortex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3A4B4"/>
                </a:solidFill>
                <a:latin typeface="Courier New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